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9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94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90" cy="823919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0">
              <a:buSzTx/>
              <a:buFontTx/>
              <a:buNone/>
              <a:defRPr b="1" sz="2400"/>
            </a:lvl2pPr>
            <a:lvl3pPr marL="0" indent="0">
              <a:buSzTx/>
              <a:buFontTx/>
              <a:buNone/>
              <a:defRPr b="1" sz="2400"/>
            </a:lvl3pPr>
            <a:lvl4pPr marL="0" indent="0">
              <a:buSzTx/>
              <a:buFontTx/>
              <a:buNone/>
              <a:defRPr b="1" sz="2400"/>
            </a:lvl4pPr>
            <a:lvl5pPr marL="0" indent="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4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4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456693" y="2752997"/>
            <a:ext cx="10859935" cy="1847309"/>
          </a:xfrm>
          <a:prstGeom prst="rect">
            <a:avLst/>
          </a:prstGeom>
        </p:spPr>
        <p:txBody>
          <a:bodyPr/>
          <a:lstStyle/>
          <a:p>
            <a:pPr>
              <a:tabLst>
                <a:tab pos="254000" algn="l"/>
                <a:tab pos="520700" algn="l"/>
                <a:tab pos="787400" algn="l"/>
                <a:tab pos="1041400" algn="l"/>
                <a:tab pos="1308100" algn="l"/>
                <a:tab pos="1574800" algn="l"/>
                <a:tab pos="1841500" algn="l"/>
                <a:tab pos="2095500" algn="l"/>
                <a:tab pos="2362200" algn="l"/>
                <a:tab pos="2628900" algn="l"/>
                <a:tab pos="2882900" algn="l"/>
                <a:tab pos="3149600" algn="l"/>
              </a:tabLst>
              <a:defRPr b="1" sz="2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Edge Computing and Reliable Data Transmission</a:t>
            </a:r>
          </a:p>
          <a:p>
            <a:pPr>
              <a:tabLst>
                <a:tab pos="254000" algn="l"/>
                <a:tab pos="520700" algn="l"/>
                <a:tab pos="787400" algn="l"/>
                <a:tab pos="1041400" algn="l"/>
                <a:tab pos="1308100" algn="l"/>
                <a:tab pos="1574800" algn="l"/>
                <a:tab pos="1841500" algn="l"/>
                <a:tab pos="2095500" algn="l"/>
                <a:tab pos="2362200" algn="l"/>
                <a:tab pos="2628900" algn="l"/>
                <a:tab pos="2882900" algn="l"/>
                <a:tab pos="3149600" algn="l"/>
              </a:tabLst>
              <a:defRPr b="1" sz="2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676655">
              <a:spcBef>
                <a:spcPts val="700"/>
              </a:spcBef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CSA0714 - </a:t>
            </a:r>
            <a:r>
              <a:rPr cap="all"/>
              <a:t>Slot C</a:t>
            </a:r>
            <a:endParaRPr cap="all"/>
          </a:p>
          <a:p>
            <a:pPr defTabSz="676655">
              <a:spcBef>
                <a:spcPts val="700"/>
              </a:spcBef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</a:t>
            </a:r>
            <a:r>
              <a:rPr cap="all" sz="2300">
                <a:solidFill>
                  <a:srgbClr val="333333"/>
                </a:solidFill>
              </a:rPr>
              <a:t>Computer Networks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xfrm>
            <a:off x="644612" y="5060186"/>
            <a:ext cx="4217443" cy="1289396"/>
          </a:xfrm>
          <a:prstGeom prst="rect">
            <a:avLst/>
          </a:prstGeom>
        </p:spPr>
        <p:txBody>
          <a:bodyPr/>
          <a:lstStyle/>
          <a:p>
            <a:pPr algn="l" defTabSz="896111">
              <a:lnSpc>
                <a:spcPct val="64800"/>
              </a:lnSpc>
              <a:spcBef>
                <a:spcPts val="900"/>
              </a:spcBef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l" defTabSz="896111">
              <a:lnSpc>
                <a:spcPct val="64800"/>
              </a:lnSpc>
              <a:spcBef>
                <a:spcPts val="900"/>
              </a:spcBef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l" defTabSz="896111">
              <a:lnSpc>
                <a:spcPct val="64800"/>
              </a:lnSpc>
              <a:spcBef>
                <a:spcPts val="900"/>
              </a:spcBef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Presented by</a:t>
            </a:r>
          </a:p>
          <a:p>
            <a:pPr algn="l" defTabSz="896111">
              <a:lnSpc>
                <a:spcPct val="64800"/>
              </a:lnSpc>
              <a:spcBef>
                <a:spcPts val="900"/>
              </a:spcBef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Devi Shree Babu (192524025)</a:t>
            </a:r>
          </a:p>
        </p:txBody>
      </p:sp>
      <p:pic>
        <p:nvPicPr>
          <p:cNvPr id="9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5620" y="277290"/>
            <a:ext cx="11480759" cy="1477196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Subtitle 2"/>
          <p:cNvSpPr txBox="1"/>
          <p:nvPr/>
        </p:nvSpPr>
        <p:spPr>
          <a:xfrm>
            <a:off x="8173384" y="4857998"/>
            <a:ext cx="4217440" cy="149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>
              <a:lnSpc>
                <a:spcPct val="64800"/>
              </a:lnSpc>
              <a:spcBef>
                <a:spcPts val="10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lnSpc>
                <a:spcPct val="64800"/>
              </a:lnSpc>
              <a:spcBef>
                <a:spcPts val="10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lnSpc>
                <a:spcPct val="64800"/>
              </a:lnSpc>
              <a:spcBef>
                <a:spcPts val="10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Faculty Name:</a:t>
            </a:r>
          </a:p>
          <a:p>
            <a:pPr>
              <a:lnSpc>
                <a:spcPct val="64800"/>
              </a:lnSpc>
              <a:spcBef>
                <a:spcPts val="10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Dr. P. Jesu Jayarin</a:t>
            </a:r>
          </a:p>
        </p:txBody>
      </p:sp>
      <p:sp>
        <p:nvSpPr>
          <p:cNvPr id="98" name="Title 1"/>
          <p:cNvSpPr txBox="1"/>
          <p:nvPr/>
        </p:nvSpPr>
        <p:spPr>
          <a:xfrm>
            <a:off x="647189" y="2045424"/>
            <a:ext cx="10849054" cy="606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b">
            <a:normAutofit fontScale="100000" lnSpcReduction="0"/>
          </a:bodyPr>
          <a:lstStyle>
            <a:lvl1pPr algn="ctr">
              <a:lnSpc>
                <a:spcPct val="90000"/>
              </a:lnSpc>
              <a:tabLst>
                <a:tab pos="254000" algn="l"/>
                <a:tab pos="520700" algn="l"/>
                <a:tab pos="787400" algn="l"/>
                <a:tab pos="1041400" algn="l"/>
                <a:tab pos="1308100" algn="l"/>
                <a:tab pos="1574800" algn="l"/>
                <a:tab pos="1841500" algn="l"/>
                <a:tab pos="2095500" algn="l"/>
                <a:tab pos="2362200" algn="l"/>
                <a:tab pos="2628900" algn="l"/>
                <a:tab pos="2882900" algn="l"/>
                <a:tab pos="3149600" algn="l"/>
              </a:tabLst>
              <a:defRPr b="1" sz="24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ASSESSMENT TOOL 3 – TECHNICAL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xfrm>
            <a:off x="838200" y="518725"/>
            <a:ext cx="10515600" cy="1325564"/>
          </a:xfrm>
          <a:prstGeom prst="rect">
            <a:avLst/>
          </a:prstGeom>
        </p:spPr>
        <p:txBody>
          <a:bodyPr/>
          <a:lstStyle>
            <a:lvl1pPr algn="ctr"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INTRODUCTION</a:t>
            </a:r>
          </a:p>
        </p:txBody>
      </p:sp>
      <p:pic>
        <p:nvPicPr>
          <p:cNvPr id="10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10901" y="382033"/>
            <a:ext cx="1256844" cy="12568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6898" y="382033"/>
            <a:ext cx="1011123" cy="1330968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Rectangle 2"/>
          <p:cNvSpPr txBox="1"/>
          <p:nvPr>
            <p:ph type="body" sz="quarter" idx="1"/>
          </p:nvPr>
        </p:nvSpPr>
        <p:spPr>
          <a:xfrm>
            <a:off x="-3" y="3988003"/>
            <a:ext cx="12192007" cy="424735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104" name="Rectangle 2"/>
          <p:cNvSpPr txBox="1"/>
          <p:nvPr/>
        </p:nvSpPr>
        <p:spPr>
          <a:xfrm>
            <a:off x="907186" y="2604492"/>
            <a:ext cx="5045454" cy="2936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marL="230604" indent="-230604" defTabSz="457200"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Edge Computing processes data closer to the source instead of a centralized cloud.</a:t>
            </a:r>
          </a:p>
          <a:p>
            <a:pPr marL="230604" indent="-230604" defTabSz="457200"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Reliable Data Transmission ensures data reaches its destination accurately and without errors.</a:t>
            </a:r>
          </a:p>
          <a:p>
            <a:pPr marL="230604" indent="-230604" defTabSz="457200"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Together, they improve network speed, reliability, and efficiency.</a:t>
            </a:r>
          </a:p>
        </p:txBody>
      </p:sp>
      <p:pic>
        <p:nvPicPr>
          <p:cNvPr id="105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605663" y="2711412"/>
            <a:ext cx="4914051" cy="29779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1"/>
          <p:cNvSpPr txBox="1"/>
          <p:nvPr>
            <p:ph type="title"/>
          </p:nvPr>
        </p:nvSpPr>
        <p:spPr>
          <a:xfrm>
            <a:off x="1408806" y="570397"/>
            <a:ext cx="9021435" cy="1256843"/>
          </a:xfrm>
          <a:prstGeom prst="rect">
            <a:avLst/>
          </a:prstGeom>
        </p:spPr>
        <p:txBody>
          <a:bodyPr/>
          <a:lstStyle>
            <a:lvl1pPr algn="ctr">
              <a:defRPr b="1" cap="all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Edge Computing</a:t>
            </a:r>
          </a:p>
        </p:txBody>
      </p:sp>
      <p:pic>
        <p:nvPicPr>
          <p:cNvPr id="10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59288" y="109321"/>
            <a:ext cx="1256844" cy="12568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8637" y="35193"/>
            <a:ext cx="1011123" cy="1330968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Rectangle 2"/>
          <p:cNvSpPr txBox="1"/>
          <p:nvPr>
            <p:ph type="body" sz="quarter" idx="1"/>
          </p:nvPr>
        </p:nvSpPr>
        <p:spPr>
          <a:xfrm>
            <a:off x="2650042" y="2051289"/>
            <a:ext cx="7709749" cy="1457489"/>
          </a:xfrm>
          <a:prstGeom prst="rect">
            <a:avLst/>
          </a:prstGeom>
        </p:spPr>
        <p:txBody>
          <a:bodyPr anchor="ctr"/>
          <a:lstStyle>
            <a:lvl1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Edge Computing is a distributed computing model where data is processed near the source of data generation instead of sending all data to a distant cloud server</a:t>
            </a:r>
          </a:p>
        </p:txBody>
      </p:sp>
      <p:sp>
        <p:nvSpPr>
          <p:cNvPr id="111" name="Key Features…"/>
          <p:cNvSpPr txBox="1"/>
          <p:nvPr/>
        </p:nvSpPr>
        <p:spPr>
          <a:xfrm>
            <a:off x="1188361" y="3993858"/>
            <a:ext cx="4602072" cy="2390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spcBef>
                <a:spcPts val="1400"/>
              </a:spcBef>
              <a:defRPr b="1"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Key Features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Reduces network latency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Saves bandwidth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Enables real-time processing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Improves privacy and security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Reduces cloud workload</a:t>
            </a:r>
          </a:p>
        </p:txBody>
      </p:sp>
      <p:sp>
        <p:nvSpPr>
          <p:cNvPr id="112" name="Advantages…"/>
          <p:cNvSpPr txBox="1"/>
          <p:nvPr/>
        </p:nvSpPr>
        <p:spPr>
          <a:xfrm>
            <a:off x="6483584" y="4282425"/>
            <a:ext cx="4276484" cy="173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defTabSz="457200">
              <a:spcBef>
                <a:spcPts val="1400"/>
              </a:spcBef>
              <a:defRPr b="1"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Advantages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Faster response time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Lower network congestion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Better Quality of Service (QoS)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Improved scalability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 txBox="1"/>
          <p:nvPr>
            <p:ph type="title"/>
          </p:nvPr>
        </p:nvSpPr>
        <p:spPr>
          <a:xfrm>
            <a:off x="2810543" y="286967"/>
            <a:ext cx="6996221" cy="1256841"/>
          </a:xfrm>
          <a:prstGeom prst="rect">
            <a:avLst/>
          </a:prstGeom>
        </p:spPr>
        <p:txBody>
          <a:bodyPr/>
          <a:lstStyle>
            <a:lvl1pPr defTabSz="429768">
              <a:lnSpc>
                <a:spcPct val="100000"/>
              </a:lnSpc>
              <a:spcBef>
                <a:spcPts val="1500"/>
              </a:spcBef>
              <a:defRPr b="1" cap="all" sz="33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Reliable Data Transmission</a:t>
            </a:r>
          </a:p>
        </p:txBody>
      </p:sp>
      <p:pic>
        <p:nvPicPr>
          <p:cNvPr id="11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59288" y="109321"/>
            <a:ext cx="1256844" cy="12568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8637" y="35193"/>
            <a:ext cx="1011123" cy="1330968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Reliable Data Transmission ensures that data is delivered:…"/>
          <p:cNvSpPr txBox="1"/>
          <p:nvPr/>
        </p:nvSpPr>
        <p:spPr>
          <a:xfrm>
            <a:off x="1455724" y="1614987"/>
            <a:ext cx="5039208" cy="2225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spcBef>
                <a:spcPts val="1200"/>
              </a:spcBef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Reliable Data Transmission ensures that data is delivered: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Correctly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Completely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 the correct order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Without duplication</a:t>
            </a:r>
          </a:p>
        </p:txBody>
      </p:sp>
      <p:sp>
        <p:nvSpPr>
          <p:cNvPr id="118" name="Techniques Used…"/>
          <p:cNvSpPr txBox="1"/>
          <p:nvPr/>
        </p:nvSpPr>
        <p:spPr>
          <a:xfrm>
            <a:off x="1502198" y="4024882"/>
            <a:ext cx="4946260" cy="3114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defTabSz="457200">
              <a:spcBef>
                <a:spcPts val="1400"/>
              </a:spcBef>
              <a:defRPr b="1"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Techniques Used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TCP (Transmission Control Protocol)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ACK (Acknowledgement)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CRC (Cyclic Redundancy Check)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ARQ (Automatic Repeat reQuest)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Flow Control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Congestion Control</a:t>
            </a:r>
          </a:p>
        </p:txBody>
      </p:sp>
      <p:pic>
        <p:nvPicPr>
          <p:cNvPr id="119" name="Untitled (6).jpg" descr="Untitled (6).jpg"/>
          <p:cNvPicPr>
            <a:picLocks noChangeAspect="1"/>
          </p:cNvPicPr>
          <p:nvPr/>
        </p:nvPicPr>
        <p:blipFill>
          <a:blip r:embed="rId4">
            <a:extLst/>
          </a:blip>
          <a:srcRect l="10097" t="8123" r="10097" b="8123"/>
          <a:stretch>
            <a:fillRect/>
          </a:stretch>
        </p:blipFill>
        <p:spPr>
          <a:xfrm>
            <a:off x="7562141" y="1304944"/>
            <a:ext cx="3199913" cy="53913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/>
          <p:nvPr>
            <p:ph type="title"/>
          </p:nvPr>
        </p:nvSpPr>
        <p:spPr>
          <a:xfrm>
            <a:off x="1385177" y="373334"/>
            <a:ext cx="9021438" cy="1256843"/>
          </a:xfrm>
          <a:prstGeom prst="rect">
            <a:avLst/>
          </a:prstGeom>
        </p:spPr>
        <p:txBody>
          <a:bodyPr/>
          <a:lstStyle>
            <a:lvl1pPr algn="ctr" defTabSz="896111"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CONCLUSION </a:t>
            </a:r>
          </a:p>
        </p:txBody>
      </p:sp>
      <p:pic>
        <p:nvPicPr>
          <p:cNvPr id="12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6916" y="-2912"/>
            <a:ext cx="1256844" cy="12568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8637" y="35193"/>
            <a:ext cx="1011123" cy="1330968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Rectangle 2"/>
          <p:cNvSpPr txBox="1"/>
          <p:nvPr>
            <p:ph type="body" sz="half" idx="1"/>
          </p:nvPr>
        </p:nvSpPr>
        <p:spPr>
          <a:xfrm>
            <a:off x="2067985" y="1355501"/>
            <a:ext cx="8783875" cy="3764849"/>
          </a:xfrm>
          <a:prstGeom prst="rect">
            <a:avLst/>
          </a:prstGeom>
        </p:spPr>
        <p:txBody>
          <a:bodyPr anchor="ctr"/>
          <a:lstStyle/>
          <a:p>
            <a:pPr marL="200525" indent="-200525" defTabSz="841247">
              <a:buFontTx/>
              <a:tabLst>
                <a:tab pos="38100" algn="r"/>
                <a:tab pos="127000" algn="l"/>
              </a:tabLst>
              <a:defRPr sz="2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120315" indent="-120315" defTabSz="457200">
              <a:lnSpc>
                <a:spcPct val="100000"/>
              </a:lnSpc>
              <a:spcBef>
                <a:spcPts val="0"/>
              </a:spcBef>
              <a:buFontTx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Edge Computing reduces latency by processing data near the source.</a:t>
            </a:r>
          </a:p>
          <a:p>
            <a:pPr marL="120315" indent="-120315" defTabSz="457200">
              <a:lnSpc>
                <a:spcPct val="100000"/>
              </a:lnSpc>
              <a:spcBef>
                <a:spcPts val="0"/>
              </a:spcBef>
              <a:buFontTx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Reliable Data Transmission ensures accurate, secure, and complete communication.</a:t>
            </a:r>
          </a:p>
          <a:p>
            <a:pPr marL="120315" indent="-120315" defTabSz="457200">
              <a:lnSpc>
                <a:spcPct val="100000"/>
              </a:lnSpc>
              <a:spcBef>
                <a:spcPts val="0"/>
              </a:spcBef>
              <a:buFontTx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Together, they improve the speed, reliability, and efficiency of modern computer networks.</a:t>
            </a:r>
          </a:p>
          <a:p>
            <a:pPr marL="120315" indent="-120315" defTabSz="457200">
              <a:lnSpc>
                <a:spcPct val="100000"/>
              </a:lnSpc>
              <a:spcBef>
                <a:spcPts val="0"/>
              </a:spcBef>
              <a:buFontTx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Application: Smart Cities, Healthcare Monitoring, Industrial IoT, Autonomous Vehicles, 5G Networks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63197" y="847225"/>
            <a:ext cx="7048501" cy="49911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